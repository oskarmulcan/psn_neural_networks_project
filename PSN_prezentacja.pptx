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sldIdLst>
    <p:sldId id="256" r:id="rId2"/>
    <p:sldId id="258" r:id="rId3"/>
    <p:sldId id="264" r:id="rId4"/>
    <p:sldId id="261" r:id="rId5"/>
    <p:sldId id="260" r:id="rId6"/>
    <p:sldId id="259" r:id="rId7"/>
    <p:sldId id="262" r:id="rId8"/>
    <p:sldId id="265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85907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49443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5701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90393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97313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32408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06552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32027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39647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39715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08135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21339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2936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6933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 obraz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04289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72577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4866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7F45AC6-C491-4585-A584-9CE2AF7D5500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0191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  <p:sldLayoutId id="2147483792" r:id="rId15"/>
    <p:sldLayoutId id="2147483793" r:id="rId16"/>
    <p:sldLayoutId id="2147483794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jpg"/><Relationship Id="rId7" Type="http://schemas.openxmlformats.org/officeDocument/2006/relationships/image" Target="../media/image13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Relationship Id="rId9" Type="http://schemas.openxmlformats.org/officeDocument/2006/relationships/image" Target="../media/image1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C28FC3-789B-8D27-2EF2-91C837DA9A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045" y="1174376"/>
            <a:ext cx="3509383" cy="2781752"/>
          </a:xfrm>
        </p:spPr>
        <p:txBody>
          <a:bodyPr>
            <a:normAutofit/>
          </a:bodyPr>
          <a:lstStyle/>
          <a:p>
            <a:pPr algn="l"/>
            <a:r>
              <a:rPr lang="pl-PL" dirty="0"/>
              <a:t>Sieci neuronowe</a:t>
            </a:r>
            <a:endParaRPr lang="pl-PL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418E3F3-9EB5-F536-01A8-DE448D32A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045" y="4062940"/>
            <a:ext cx="3509383" cy="1394913"/>
          </a:xfrm>
        </p:spPr>
        <p:txBody>
          <a:bodyPr>
            <a:normAutofit/>
          </a:bodyPr>
          <a:lstStyle/>
          <a:p>
            <a:pPr algn="l"/>
            <a:r>
              <a:rPr lang="pl-PL" dirty="0"/>
              <a:t>Rozpoznawanie emocji na podstawie zdjęcia</a:t>
            </a:r>
          </a:p>
        </p:txBody>
      </p:sp>
      <p:pic>
        <p:nvPicPr>
          <p:cNvPr id="4" name="Picture 3" descr="Abstrakcyjna koncepcja genetyczna">
            <a:extLst>
              <a:ext uri="{FF2B5EF4-FFF2-40B4-BE49-F238E27FC236}">
                <a16:creationId xmlns:a16="http://schemas.microsoft.com/office/drawing/2014/main" id="{76D01BB0-9BDA-0E44-D02D-C96DD1C606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03" r="-2" b="713"/>
          <a:stretch>
            <a:fillRect/>
          </a:stretch>
        </p:blipFill>
        <p:spPr>
          <a:xfrm>
            <a:off x="4824248" y="1"/>
            <a:ext cx="7367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73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C10A01-87EE-9B5A-A212-735913761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Sieć </a:t>
            </a:r>
            <a:r>
              <a:rPr lang="pl-PL" dirty="0" err="1"/>
              <a:t>konwolucyjna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D01A9C0-B679-14CF-1E01-AD4817AD4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776" y="1727533"/>
            <a:ext cx="10353762" cy="4058751"/>
          </a:xfrm>
        </p:spPr>
        <p:txBody>
          <a:bodyPr/>
          <a:lstStyle/>
          <a:p>
            <a:r>
              <a:rPr lang="pl-PL" dirty="0"/>
              <a:t>Wykrywanie lokalnych cech</a:t>
            </a:r>
          </a:p>
          <a:p>
            <a:r>
              <a:rPr lang="pl-PL" dirty="0"/>
              <a:t>Mniejsza liczba parametrów</a:t>
            </a:r>
          </a:p>
          <a:p>
            <a:r>
              <a:rPr lang="pl-PL" dirty="0"/>
              <a:t>Odporność na przesunięcia</a:t>
            </a:r>
          </a:p>
        </p:txBody>
      </p:sp>
      <p:pic>
        <p:nvPicPr>
          <p:cNvPr id="5" name="Obraz 4" descr="Obraz zawierający tekst, zrzut ekranu, diagram, Ludzka twarz&#10;&#10;Zawartość wygenerowana przez AI może być niepoprawna.">
            <a:extLst>
              <a:ext uri="{FF2B5EF4-FFF2-40B4-BE49-F238E27FC236}">
                <a16:creationId xmlns:a16="http://schemas.microsoft.com/office/drawing/2014/main" id="{1E57703C-6A43-8E79-1DA7-58CE4A4E3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345" y="3429000"/>
            <a:ext cx="8291309" cy="304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359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CCA62E5-FD21-9612-435D-C46C858CF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Warstwy/architektura sieci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BBA41FB-B334-7EE2-FD14-BBD6F5A94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Warstwa </a:t>
            </a:r>
            <a:r>
              <a:rPr lang="pl-PL" dirty="0" err="1"/>
              <a:t>rescaling</a:t>
            </a:r>
            <a:endParaRPr lang="pl-PL" dirty="0"/>
          </a:p>
          <a:p>
            <a:r>
              <a:rPr lang="pl-PL" dirty="0"/>
              <a:t>Warstwy Conv2D</a:t>
            </a:r>
          </a:p>
          <a:p>
            <a:r>
              <a:rPr lang="pl-PL" dirty="0"/>
              <a:t>Warstwy MaxPooling2D</a:t>
            </a:r>
          </a:p>
          <a:p>
            <a:r>
              <a:rPr lang="pl-PL" dirty="0"/>
              <a:t>Warstwy </a:t>
            </a:r>
            <a:r>
              <a:rPr lang="pl-PL" dirty="0" err="1"/>
              <a:t>BatchNormalization</a:t>
            </a:r>
            <a:endParaRPr lang="pl-PL" dirty="0"/>
          </a:p>
          <a:p>
            <a:r>
              <a:rPr lang="pl-PL" dirty="0"/>
              <a:t>Warstwa </a:t>
            </a:r>
            <a:r>
              <a:rPr lang="pl-PL" dirty="0" err="1"/>
              <a:t>Flatten</a:t>
            </a:r>
            <a:endParaRPr lang="pl-PL" dirty="0"/>
          </a:p>
          <a:p>
            <a:r>
              <a:rPr lang="pl-PL" dirty="0"/>
              <a:t>Warstwa </a:t>
            </a:r>
            <a:r>
              <a:rPr lang="pl-PL" dirty="0" err="1"/>
              <a:t>Dense</a:t>
            </a:r>
            <a:endParaRPr lang="pl-PL" dirty="0"/>
          </a:p>
          <a:p>
            <a:r>
              <a:rPr lang="pl-PL" dirty="0"/>
              <a:t>Warstwa </a:t>
            </a:r>
            <a:r>
              <a:rPr lang="pl-PL" dirty="0" err="1"/>
              <a:t>Dropout</a:t>
            </a:r>
            <a:endParaRPr lang="pl-PL" dirty="0"/>
          </a:p>
          <a:p>
            <a:r>
              <a:rPr lang="pl-PL" dirty="0"/>
              <a:t>Warstwa Wyjściowa</a:t>
            </a:r>
          </a:p>
        </p:txBody>
      </p:sp>
    </p:spTree>
    <p:extLst>
      <p:ext uri="{BB962C8B-B14F-4D97-AF65-F5344CB8AC3E}">
        <p14:creationId xmlns:p14="http://schemas.microsoft.com/office/powerpoint/2010/main" val="2648995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6CF4915-33BC-FF07-B31C-E4678795E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Trenowanie sieci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0E07423-9FFC-F6A8-7E5C-B1D172A94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Maksymalnie 25 epok</a:t>
            </a:r>
          </a:p>
          <a:p>
            <a:r>
              <a:rPr lang="pl-PL" dirty="0"/>
              <a:t>Funkcje </a:t>
            </a:r>
            <a:r>
              <a:rPr lang="pl-PL" dirty="0" err="1"/>
              <a:t>Callback</a:t>
            </a:r>
            <a:r>
              <a:rPr lang="pl-PL" dirty="0"/>
              <a:t>:</a:t>
            </a:r>
          </a:p>
          <a:p>
            <a:pPr lvl="1"/>
            <a:r>
              <a:rPr lang="pl-PL" dirty="0"/>
              <a:t>Funkcja </a:t>
            </a:r>
            <a:r>
              <a:rPr lang="pl-PL" dirty="0" err="1"/>
              <a:t>ReduceLROnPlateau</a:t>
            </a:r>
            <a:r>
              <a:rPr lang="pl-PL" dirty="0"/>
              <a:t> </a:t>
            </a:r>
          </a:p>
          <a:p>
            <a:pPr lvl="1"/>
            <a:r>
              <a:rPr lang="pl-PL" dirty="0"/>
              <a:t>Funkcja </a:t>
            </a:r>
            <a:r>
              <a:rPr lang="pl-PL" dirty="0" err="1"/>
              <a:t>EarlyStopping</a:t>
            </a:r>
            <a:endParaRPr lang="pl-PL" dirty="0"/>
          </a:p>
          <a:p>
            <a:r>
              <a:rPr lang="pl-PL" dirty="0"/>
              <a:t>Algorytm optymalizacyjny Adam o współczynniku uczenia 0.0001</a:t>
            </a:r>
          </a:p>
          <a:p>
            <a:r>
              <a:rPr lang="pl-PL" dirty="0"/>
              <a:t>Funkcja cross </a:t>
            </a:r>
            <a:r>
              <a:rPr lang="pl-PL" dirty="0" err="1"/>
              <a:t>entropy</a:t>
            </a:r>
            <a:r>
              <a:rPr lang="pl-PL" dirty="0"/>
              <a:t> </a:t>
            </a:r>
            <a:r>
              <a:rPr lang="pl-PL" dirty="0" err="1"/>
              <a:t>loss</a:t>
            </a:r>
            <a:endParaRPr lang="pl-PL" dirty="0"/>
          </a:p>
          <a:p>
            <a:r>
              <a:rPr lang="pl-PL" dirty="0"/>
              <a:t>Metryka </a:t>
            </a:r>
            <a:r>
              <a:rPr lang="pl-PL" dirty="0" err="1"/>
              <a:t>accuracy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5479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6D7E54-96A0-FBD0-96BD-A2A58E314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Przygotowanie danych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C655E51-85DC-412D-DF6A-F78D5D4A7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pl-PL" dirty="0"/>
              <a:t>Wybrano po 1000 zdjęć z każdej klasy: </a:t>
            </a:r>
            <a:r>
              <a:rPr lang="pl-PL" dirty="0" err="1"/>
              <a:t>disgust</a:t>
            </a:r>
            <a:r>
              <a:rPr lang="pl-PL" dirty="0"/>
              <a:t>, happy, </a:t>
            </a:r>
            <a:r>
              <a:rPr lang="pl-PL" dirty="0" err="1"/>
              <a:t>neutral</a:t>
            </a:r>
            <a:r>
              <a:rPr lang="pl-PL" dirty="0"/>
              <a:t> oraz </a:t>
            </a:r>
            <a:r>
              <a:rPr lang="pl-PL" dirty="0" err="1"/>
              <a:t>surprise</a:t>
            </a:r>
            <a:r>
              <a:rPr lang="pl-PL" dirty="0"/>
              <a:t>.</a:t>
            </a:r>
            <a:br>
              <a:rPr lang="pl-PL" dirty="0"/>
            </a:br>
            <a:r>
              <a:rPr lang="pl-PL" dirty="0"/>
              <a:t>Następnie podzielono je na 3 zestawy:</a:t>
            </a:r>
          </a:p>
          <a:p>
            <a:r>
              <a:rPr lang="pl-PL" dirty="0"/>
              <a:t>Treningowy – 80% zestawu</a:t>
            </a:r>
          </a:p>
          <a:p>
            <a:r>
              <a:rPr lang="pl-PL" dirty="0"/>
              <a:t>Walidacyjny – 10% zestawu</a:t>
            </a:r>
          </a:p>
          <a:p>
            <a:r>
              <a:rPr lang="pl-PL" dirty="0"/>
              <a:t>Testowy - 10% zestawu</a:t>
            </a:r>
          </a:p>
        </p:txBody>
      </p:sp>
    </p:spTree>
    <p:extLst>
      <p:ext uri="{BB962C8B-B14F-4D97-AF65-F5344CB8AC3E}">
        <p14:creationId xmlns:p14="http://schemas.microsoft.com/office/powerpoint/2010/main" val="1143145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053CA92-675C-A08E-E135-E772E4178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Wybór zdjęć</a:t>
            </a:r>
          </a:p>
        </p:txBody>
      </p:sp>
      <p:grpSp>
        <p:nvGrpSpPr>
          <p:cNvPr id="23" name="Grupa 22">
            <a:extLst>
              <a:ext uri="{FF2B5EF4-FFF2-40B4-BE49-F238E27FC236}">
                <a16:creationId xmlns:a16="http://schemas.microsoft.com/office/drawing/2014/main" id="{06F16B8C-ACB3-CC78-C405-245954153AA6}"/>
              </a:ext>
            </a:extLst>
          </p:cNvPr>
          <p:cNvGrpSpPr/>
          <p:nvPr/>
        </p:nvGrpSpPr>
        <p:grpSpPr>
          <a:xfrm>
            <a:off x="0" y="1580046"/>
            <a:ext cx="12192000" cy="3400609"/>
            <a:chOff x="0" y="1580046"/>
            <a:chExt cx="12192000" cy="3400609"/>
          </a:xfrm>
        </p:grpSpPr>
        <p:grpSp>
          <p:nvGrpSpPr>
            <p:cNvPr id="21" name="Grupa 20">
              <a:extLst>
                <a:ext uri="{FF2B5EF4-FFF2-40B4-BE49-F238E27FC236}">
                  <a16:creationId xmlns:a16="http://schemas.microsoft.com/office/drawing/2014/main" id="{6BB86453-60D5-E9F7-4910-6CC98A0A0C69}"/>
                </a:ext>
              </a:extLst>
            </p:cNvPr>
            <p:cNvGrpSpPr/>
            <p:nvPr/>
          </p:nvGrpSpPr>
          <p:grpSpPr>
            <a:xfrm>
              <a:off x="0" y="1580046"/>
              <a:ext cx="12192000" cy="3031283"/>
              <a:chOff x="0" y="1580046"/>
              <a:chExt cx="12419152" cy="3104945"/>
            </a:xfrm>
          </p:grpSpPr>
          <p:pic>
            <p:nvPicPr>
              <p:cNvPr id="4" name="Obraz 3" descr="Obraz zawierający Ludzka twarz, osoba, brew, Czoło&#10;&#10;Zawartość wygenerowana przez AI może być niepoprawna.">
                <a:extLst>
                  <a:ext uri="{FF2B5EF4-FFF2-40B4-BE49-F238E27FC236}">
                    <a16:creationId xmlns:a16="http://schemas.microsoft.com/office/drawing/2014/main" id="{CE5F5269-A5D8-6993-EA08-D8D6116608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09880" y="1580049"/>
                <a:ext cx="3104939" cy="3104939"/>
              </a:xfrm>
              <a:prstGeom prst="rect">
                <a:avLst/>
              </a:prstGeom>
            </p:spPr>
          </p:pic>
          <p:pic>
            <p:nvPicPr>
              <p:cNvPr id="11" name="Obraz 10" descr="Obraz zawierający osoba, Warga, rzęsa, skóra&#10;&#10;Zawartość wygenerowana przez AI może być niepoprawna.">
                <a:extLst>
                  <a:ext uri="{FF2B5EF4-FFF2-40B4-BE49-F238E27FC236}">
                    <a16:creationId xmlns:a16="http://schemas.microsoft.com/office/drawing/2014/main" id="{5E638442-F230-174F-DDE2-D9B8AC05B8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314213" y="1580046"/>
                <a:ext cx="3104939" cy="3104939"/>
              </a:xfrm>
              <a:prstGeom prst="rect">
                <a:avLst/>
              </a:prstGeom>
            </p:spPr>
          </p:pic>
          <p:pic>
            <p:nvPicPr>
              <p:cNvPr id="14" name="Obraz 13" descr="Obraz zawierający uśmiech, Ludzka twarz, Ząb, osoba&#10;&#10;Zawartość wygenerowana przez AI może być niepoprawna.">
                <a:extLst>
                  <a:ext uri="{FF2B5EF4-FFF2-40B4-BE49-F238E27FC236}">
                    <a16:creationId xmlns:a16="http://schemas.microsoft.com/office/drawing/2014/main" id="{EBB57EFE-B8DB-4EE3-3205-F123C1CFEF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1580050"/>
                <a:ext cx="3104941" cy="3104941"/>
              </a:xfrm>
              <a:prstGeom prst="rect">
                <a:avLst/>
              </a:prstGeom>
            </p:spPr>
          </p:pic>
          <p:pic>
            <p:nvPicPr>
              <p:cNvPr id="20" name="Obraz 19" descr="Obraz zawierający osoba, Ludzka twarz, uśmiech, Ząb&#10;&#10;Zawartość wygenerowana przez AI może być niepoprawna.">
                <a:extLst>
                  <a:ext uri="{FF2B5EF4-FFF2-40B4-BE49-F238E27FC236}">
                    <a16:creationId xmlns:a16="http://schemas.microsoft.com/office/drawing/2014/main" id="{6A15D69E-1F13-5815-6AFF-FEBC0DE4B0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04941" y="1580050"/>
                <a:ext cx="3104940" cy="3104940"/>
              </a:xfrm>
              <a:prstGeom prst="rect">
                <a:avLst/>
              </a:prstGeom>
            </p:spPr>
          </p:pic>
        </p:grpSp>
        <p:sp>
          <p:nvSpPr>
            <p:cNvPr id="22" name="pole tekstowe 21">
              <a:extLst>
                <a:ext uri="{FF2B5EF4-FFF2-40B4-BE49-F238E27FC236}">
                  <a16:creationId xmlns:a16="http://schemas.microsoft.com/office/drawing/2014/main" id="{5A5C209F-652F-E9BC-C69E-C252BC76A6DC}"/>
                </a:ext>
              </a:extLst>
            </p:cNvPr>
            <p:cNvSpPr txBox="1"/>
            <p:nvPr/>
          </p:nvSpPr>
          <p:spPr>
            <a:xfrm>
              <a:off x="127818" y="4611323"/>
              <a:ext cx="1182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dirty="0"/>
                <a:t>Przykłady wybranych zdjęć</a:t>
              </a:r>
            </a:p>
          </p:txBody>
        </p:sp>
      </p:grpSp>
      <p:grpSp>
        <p:nvGrpSpPr>
          <p:cNvPr id="34" name="Grupa 33">
            <a:extLst>
              <a:ext uri="{FF2B5EF4-FFF2-40B4-BE49-F238E27FC236}">
                <a16:creationId xmlns:a16="http://schemas.microsoft.com/office/drawing/2014/main" id="{BC026FFD-49A0-BB40-8CBE-39FAC78165F5}"/>
              </a:ext>
            </a:extLst>
          </p:cNvPr>
          <p:cNvGrpSpPr/>
          <p:nvPr/>
        </p:nvGrpSpPr>
        <p:grpSpPr>
          <a:xfrm>
            <a:off x="5036" y="1580046"/>
            <a:ext cx="12186964" cy="3387227"/>
            <a:chOff x="5036" y="1580046"/>
            <a:chExt cx="12186964" cy="3387227"/>
          </a:xfrm>
        </p:grpSpPr>
        <p:grpSp>
          <p:nvGrpSpPr>
            <p:cNvPr id="32" name="Grupa 31">
              <a:extLst>
                <a:ext uri="{FF2B5EF4-FFF2-40B4-BE49-F238E27FC236}">
                  <a16:creationId xmlns:a16="http://schemas.microsoft.com/office/drawing/2014/main" id="{1755E207-4BDE-1A83-AD02-6912FB46CF91}"/>
                </a:ext>
              </a:extLst>
            </p:cNvPr>
            <p:cNvGrpSpPr/>
            <p:nvPr/>
          </p:nvGrpSpPr>
          <p:grpSpPr>
            <a:xfrm>
              <a:off x="5036" y="1580046"/>
              <a:ext cx="12186964" cy="3048147"/>
              <a:chOff x="-599" y="3809853"/>
              <a:chExt cx="12186964" cy="3048147"/>
            </a:xfrm>
          </p:grpSpPr>
          <p:pic>
            <p:nvPicPr>
              <p:cNvPr id="25" name="Obraz 24" descr="Obraz zawierający błona rentgenowska, monochromatyzm, czarne, czarne i białe&#10;&#10;Zawartość wygenerowana przez AI może być niepoprawna.">
                <a:extLst>
                  <a:ext uri="{FF2B5EF4-FFF2-40B4-BE49-F238E27FC236}">
                    <a16:creationId xmlns:a16="http://schemas.microsoft.com/office/drawing/2014/main" id="{B18AC518-6849-EE86-767E-42725C5C90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38218" y="3809853"/>
                <a:ext cx="3048147" cy="3048147"/>
              </a:xfrm>
              <a:prstGeom prst="rect">
                <a:avLst/>
              </a:prstGeom>
            </p:spPr>
          </p:pic>
          <p:pic>
            <p:nvPicPr>
              <p:cNvPr id="27" name="Obraz 26" descr="Obraz zawierający Ludzka twarz, człowiek, osoba, Czoło&#10;&#10;Zawartość wygenerowana przez AI może być niepoprawna.">
                <a:extLst>
                  <a:ext uri="{FF2B5EF4-FFF2-40B4-BE49-F238E27FC236}">
                    <a16:creationId xmlns:a16="http://schemas.microsoft.com/office/drawing/2014/main" id="{45E25979-3CFF-AE69-5AC6-71BFD36CEB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90675" y="3809853"/>
                <a:ext cx="3048147" cy="3048147"/>
              </a:xfrm>
              <a:prstGeom prst="rect">
                <a:avLst/>
              </a:prstGeom>
            </p:spPr>
          </p:pic>
          <p:pic>
            <p:nvPicPr>
              <p:cNvPr id="29" name="Obraz 28" descr="Obraz zawierający Ludzka twarz, osoba, człowiek, Czoło&#10;&#10;Zawartość wygenerowana przez AI może być niepoprawna.">
                <a:extLst>
                  <a:ext uri="{FF2B5EF4-FFF2-40B4-BE49-F238E27FC236}">
                    <a16:creationId xmlns:a16="http://schemas.microsoft.com/office/drawing/2014/main" id="{1AECB155-6B76-343B-493E-26DF77E071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7547" y="3809853"/>
                <a:ext cx="3048147" cy="3048147"/>
              </a:xfrm>
              <a:prstGeom prst="rect">
                <a:avLst/>
              </a:prstGeom>
            </p:spPr>
          </p:pic>
          <p:pic>
            <p:nvPicPr>
              <p:cNvPr id="31" name="Obraz 30" descr="Obraz zawierający ubrania, materiał&#10;&#10;Zawartość wygenerowana przez AI może być niepoprawna.">
                <a:extLst>
                  <a:ext uri="{FF2B5EF4-FFF2-40B4-BE49-F238E27FC236}">
                    <a16:creationId xmlns:a16="http://schemas.microsoft.com/office/drawing/2014/main" id="{C600E11D-C3C7-D9B8-58AC-9E5483E14C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599" y="3809853"/>
                <a:ext cx="3048147" cy="3048147"/>
              </a:xfrm>
              <a:prstGeom prst="rect">
                <a:avLst/>
              </a:prstGeom>
            </p:spPr>
          </p:pic>
        </p:grpSp>
        <p:sp>
          <p:nvSpPr>
            <p:cNvPr id="33" name="pole tekstowe 32">
              <a:extLst>
                <a:ext uri="{FF2B5EF4-FFF2-40B4-BE49-F238E27FC236}">
                  <a16:creationId xmlns:a16="http://schemas.microsoft.com/office/drawing/2014/main" id="{D13CA720-C82A-EE96-1A17-92307FE1AD03}"/>
                </a:ext>
              </a:extLst>
            </p:cNvPr>
            <p:cNvSpPr txBox="1"/>
            <p:nvPr/>
          </p:nvSpPr>
          <p:spPr>
            <a:xfrm>
              <a:off x="2152856" y="4597941"/>
              <a:ext cx="78756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dirty="0"/>
                <a:t>Przykłady odrzuconych zdjęć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7587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DF1C474-096E-6DED-88FA-F177EC6CE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Wyniki</a:t>
            </a: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F5725721-1BE2-EF5D-28C8-6B2552697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4839"/>
            <a:ext cx="12195416" cy="4621161"/>
          </a:xfrm>
          <a:prstGeom prst="rect">
            <a:avLst/>
          </a:prstGeom>
        </p:spPr>
      </p:pic>
      <p:pic>
        <p:nvPicPr>
          <p:cNvPr id="7" name="Obraz 6" descr="Obraz zawierający tekst, zrzut ekranu, Prostokąt, diagram&#10;&#10;Zawartość wygenerowana przez AI może być niepoprawna.">
            <a:extLst>
              <a:ext uri="{FF2B5EF4-FFF2-40B4-BE49-F238E27FC236}">
                <a16:creationId xmlns:a16="http://schemas.microsoft.com/office/drawing/2014/main" id="{C60BB3D1-1482-8640-5291-54A25BEA3F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323" y="1469296"/>
            <a:ext cx="5992770" cy="5393493"/>
          </a:xfrm>
          <a:prstGeom prst="rect">
            <a:avLst/>
          </a:prstGeom>
        </p:spPr>
      </p:pic>
      <p:pic>
        <p:nvPicPr>
          <p:cNvPr id="9" name="Obraz 8" descr="Obraz zawierający tekst, diagram, linia, Wykres&#10;&#10;Zawartość wygenerowana przez AI może być niepoprawna.">
            <a:extLst>
              <a:ext uri="{FF2B5EF4-FFF2-40B4-BE49-F238E27FC236}">
                <a16:creationId xmlns:a16="http://schemas.microsoft.com/office/drawing/2014/main" id="{7E341B64-8F32-0F5F-408E-EF92F7413B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" y="1469296"/>
            <a:ext cx="12192000" cy="5178748"/>
          </a:xfrm>
          <a:prstGeom prst="rect">
            <a:avLst/>
          </a:prstGeom>
        </p:spPr>
      </p:pic>
      <p:pic>
        <p:nvPicPr>
          <p:cNvPr id="4" name="Obraz 3" descr="Obraz zawierający tekst, Czcionka, linia, zrzut ekranu&#10;&#10;Zawartość wygenerowana przez AI może być niepoprawna.">
            <a:extLst>
              <a:ext uri="{FF2B5EF4-FFF2-40B4-BE49-F238E27FC236}">
                <a16:creationId xmlns:a16="http://schemas.microsoft.com/office/drawing/2014/main" id="{327261A4-3CB8-8DDF-EA5C-0A43EEF655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469296"/>
            <a:ext cx="12218087" cy="228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89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CD72D2-7214-2169-507F-8E9461149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Wnioski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FBFD7B1-3101-CA4B-9F02-36D61F379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Odpowiedni dobór danych do zestawów uczących, walidacyjnych i testowych jest kluczowy dla uzyskania optymalnych rezultatów.</a:t>
            </a:r>
          </a:p>
          <a:p>
            <a:r>
              <a:rPr lang="pl-PL" dirty="0"/>
              <a:t>Analiza krzywych wskazuje na szybką adaptację modelu do danych treningowych, jednocześnie wskazuje to na przetrenowanie sieci (rozbieżność z dokładnością na zbiorze walidacyjnym).</a:t>
            </a:r>
          </a:p>
          <a:p>
            <a:r>
              <a:rPr lang="pl-PL" dirty="0"/>
              <a:t>Największa ilość błędów jest pomiędzy emocjami </a:t>
            </a:r>
            <a:r>
              <a:rPr lang="pl-PL" dirty="0" err="1"/>
              <a:t>neutral</a:t>
            </a:r>
            <a:r>
              <a:rPr lang="pl-PL" dirty="0"/>
              <a:t> i </a:t>
            </a:r>
            <a:r>
              <a:rPr lang="pl-PL" dirty="0" err="1"/>
              <a:t>surprise</a:t>
            </a:r>
            <a:r>
              <a:rPr lang="pl-PL" dirty="0"/>
              <a:t>.</a:t>
            </a:r>
          </a:p>
          <a:p>
            <a:r>
              <a:rPr lang="pl-PL" dirty="0"/>
              <a:t>Największą skuteczność odnotowano dla emocji </a:t>
            </a:r>
            <a:r>
              <a:rPr lang="pl-PL" dirty="0" err="1"/>
              <a:t>disgust</a:t>
            </a:r>
            <a:r>
              <a:rPr lang="pl-PL" dirty="0"/>
              <a:t> oraz happy (najwyższe wskaźniki F1-score). Wskazuje to na najbardziej charakterystyczne cechy wizualne tych klas.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08981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8E3A2FF-05B5-33CA-3DFB-436EF18CA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Dziękujemy za uwagę</a:t>
            </a:r>
          </a:p>
        </p:txBody>
      </p:sp>
    </p:spTree>
    <p:extLst>
      <p:ext uri="{BB962C8B-B14F-4D97-AF65-F5344CB8AC3E}">
        <p14:creationId xmlns:p14="http://schemas.microsoft.com/office/powerpoint/2010/main" val="11802630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Łupek">
  <a:themeElements>
    <a:clrScheme name="Łupek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Łupek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Łupek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TM04033929[[fn=Łupek]]</Template>
  <TotalTime>110</TotalTime>
  <Words>192</Words>
  <Application>Microsoft Office PowerPoint</Application>
  <PresentationFormat>Panoramiczny</PresentationFormat>
  <Paragraphs>38</Paragraphs>
  <Slides>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2" baseType="lpstr">
      <vt:lpstr>Calisto MT</vt:lpstr>
      <vt:lpstr>Wingdings 2</vt:lpstr>
      <vt:lpstr>Łupek</vt:lpstr>
      <vt:lpstr>Sieci neuronowe</vt:lpstr>
      <vt:lpstr>Sieć konwolucyjna</vt:lpstr>
      <vt:lpstr>Warstwy/architektura sieci</vt:lpstr>
      <vt:lpstr>Trenowanie sieci</vt:lpstr>
      <vt:lpstr>Przygotowanie danych</vt:lpstr>
      <vt:lpstr>Wybór zdjęć</vt:lpstr>
      <vt:lpstr>Wyniki</vt:lpstr>
      <vt:lpstr>Wnioski</vt:lpstr>
      <vt:lpstr>Dziękujemy za uwagę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janiczuk</dc:creator>
  <cp:lastModifiedBy>jakub janiczuk</cp:lastModifiedBy>
  <cp:revision>14</cp:revision>
  <dcterms:created xsi:type="dcterms:W3CDTF">2026-01-18T14:43:34Z</dcterms:created>
  <dcterms:modified xsi:type="dcterms:W3CDTF">2026-01-19T11:46:44Z</dcterms:modified>
</cp:coreProperties>
</file>